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27432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103120"/>
            <a:ext cx="1219169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E0A82E"/>
                </a:solidFill>
                <a:latin typeface="Calibri"/>
              </a:rPr>
              <a:t>EGGGRADE OMS · ERP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606040"/>
            <a:ext cx="12191695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UAT → Production Handover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86200"/>
            <a:ext cx="12191695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000" b="0" i="1">
                <a:solidFill>
                  <a:srgbClr val="F5F5F5"/>
                </a:solidFill>
                <a:latin typeface="Calibri"/>
              </a:rPr>
              <a:t>Re-implement the validated UAT behavior on a proper backend.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4937760"/>
            <a:ext cx="393192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4983480"/>
            <a:ext cx="39319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Build · 193180d9… · 26,113 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943600"/>
            <a:ext cx="1219169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Prepared 2026-05-26 · Audience: CTO · Tech lead · FE · BE · DB · QA · PO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9224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EggGrade OMS · Production Handover · 2026-05-26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65A82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6017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Feature-mature for daily operations · 36 open low/med bugs · 0 blockers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60175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640080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1118585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1">
                <a:solidFill>
                  <a:srgbClr val="21295C"/>
                </a:solidFill>
                <a:latin typeface="Calibri"/>
              </a:rPr>
              <a:t>67 / 67 QA assertions PASS · MD5 193180d9… · 26,113 lines · zero blockers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40280"/>
            <a:ext cx="2560320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2560320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42316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6B7280"/>
                </a:solidFill>
                <a:latin typeface="Calibri"/>
              </a:rPr>
              <a:t>QA PASS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788920"/>
            <a:ext cx="2560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67 / 67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2240280"/>
            <a:ext cx="2560320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2240280"/>
            <a:ext cx="2560320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242316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6B7280"/>
                </a:solidFill>
                <a:latin typeface="Calibri"/>
              </a:rPr>
              <a:t>OPEN BUGS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788920"/>
            <a:ext cx="2560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065A82"/>
                </a:solidFill>
                <a:latin typeface="Calibri"/>
              </a:rPr>
              <a:t>36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240280"/>
            <a:ext cx="2560320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240280"/>
            <a:ext cx="2560320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242316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6B7280"/>
                </a:solidFill>
                <a:latin typeface="Calibri"/>
              </a:rPr>
              <a:t>BLOCKERS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788920"/>
            <a:ext cx="2560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2240280"/>
            <a:ext cx="2560320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69680" y="2240280"/>
            <a:ext cx="2560320" cy="73152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242316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6B7280"/>
                </a:solidFill>
                <a:latin typeface="Calibri"/>
              </a:rPr>
              <a:t>MEDIUM SEV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2788920"/>
            <a:ext cx="2560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E0A82E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749039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Domain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114800"/>
            <a:ext cx="548640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Orders · Mature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PO Intake · Mature (Makro / BigC / Thaifood)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Daily Plan Demand · Mature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Daily Plan BOM · Mature, integration gap (UAT-016/042/046)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Logistics · Mature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ใบน้อย · Mature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Master Data · Mature, BOM editor actively evolving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Backup / Restore · Mature (Tasks 1 + 2)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749039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1C7293"/>
                </a:solidFill>
                <a:latin typeface="Calibri"/>
              </a:rPr>
              <a:t>Key takeaway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114800"/>
            <a:ext cx="548640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BOM was the last major build (Tasks 4–10B).</a:t>
            </a:r>
          </a:p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One-component-line model is the agreed design.</a:t>
            </a:r>
          </a:p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Production should re-implement on a proper backend, preserving every UAT-confirmed rule — not extend app/index.html.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263640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Source: PRODUCTION_HANDOVER_EGGGRADE_OMS.md §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9224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EggGrade OMS · Production Handover · 2026-05-26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65A82"/>
                </a:solidFill>
                <a:latin typeface="Calibri"/>
              </a:rPr>
              <a:t>Why the UAT exists — how to use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6017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Treat app/index.html as an executable specification, not as production code.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60175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640080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1118585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1">
                <a:solidFill>
                  <a:srgbClr val="21295C"/>
                </a:solidFill>
                <a:latin typeface="Calibri"/>
              </a:rPr>
              <a:t>DO read the UAT to understand the rules · DO NOT extend or refactor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94560"/>
            <a:ext cx="5547207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21992"/>
            <a:ext cx="5547207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547207" cy="4114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88920"/>
            <a:ext cx="5272887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Read app/index.html to understand the rules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Run UAT locally to demo the operator flow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Use UAT as parity reference during dual-run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Port pure-function helpers verbatim (parsers, validators, unit math)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Treat the BUG_LOG as the known-gap 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8727" y="2194560"/>
            <a:ext cx="5547207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8727" y="2221992"/>
            <a:ext cx="5547207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DO NOT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2651760"/>
            <a:ext cx="5547207" cy="4114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5887" y="2788920"/>
            <a:ext cx="5272887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Treat app/index.html as production code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Extend app/index.html for production purposes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Touch oms-production/ unless the two unfreeze conditions are met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Skip dual-run before cutover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Rename or restructure existing localStorage keys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263640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Source: PRODUCTION_HANDOVER_EGGGRADE_OMS.md § 0, §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9224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EggGrade OMS · Production Handover · 2026-05-26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65A82"/>
                </a:solidFill>
                <a:latin typeface="Calibri"/>
              </a:rPr>
              <a:t>System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6017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Five functional modules + shared Master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60175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640080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1118585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1">
                <a:solidFill>
                  <a:srgbClr val="21295C"/>
                </a:solidFill>
                <a:latin typeface="Calibri"/>
              </a:rPr>
              <a:t>Master Data feeds every module · operational flow is unidirectional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2194560"/>
            <a:ext cx="7772400" cy="8229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2286000"/>
            <a:ext cx="7772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MASTER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606040"/>
            <a:ext cx="7772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F5F5F5"/>
                </a:solidFill>
                <a:latin typeface="Calibri"/>
              </a:rPr>
              <a:t>customers · sites · items · option_sets · unit conversions · egg profile · basket profile · BOM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508760" y="3108960"/>
            <a:ext cx="274320" cy="365760"/>
          </a:xfrm>
          <a:prstGeom prst="downArrow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3520440" y="3108960"/>
            <a:ext cx="274320" cy="365760"/>
          </a:xfrm>
          <a:prstGeom prst="downArrow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5806440" y="3108960"/>
            <a:ext cx="274320" cy="365760"/>
          </a:xfrm>
          <a:prstGeom prst="downArrow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8092440" y="3108960"/>
            <a:ext cx="274320" cy="365760"/>
          </a:xfrm>
          <a:prstGeom prst="downArrow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10104120" y="3108960"/>
            <a:ext cx="274320" cy="365760"/>
          </a:xfrm>
          <a:prstGeom prst="downArrow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611880"/>
            <a:ext cx="1920240" cy="1554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611880"/>
            <a:ext cx="1920240" cy="6400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65A82"/>
                </a:solidFill>
                <a:latin typeface="Calibri"/>
              </a:rPr>
              <a:t>ORDERS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1920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Tickets, FSM, KPIs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52928" y="3611880"/>
            <a:ext cx="1920240" cy="1554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52928" y="3611880"/>
            <a:ext cx="1920240" cy="6400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52928" y="3840480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65A82"/>
                </a:solidFill>
                <a:latin typeface="Calibri"/>
              </a:rPr>
              <a:t>PO INTAKE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52928" y="4389120"/>
            <a:ext cx="1920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Makro/BigC/Thaifood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65776" y="3611880"/>
            <a:ext cx="1920240" cy="1554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5776" y="3611880"/>
            <a:ext cx="1920240" cy="6400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65776" y="3840480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65A82"/>
                </a:solidFill>
                <a:latin typeface="Calibri"/>
              </a:rPr>
              <a:t>DAILY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65776" y="4389120"/>
            <a:ext cx="1920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Demand · BOM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78624" y="3611880"/>
            <a:ext cx="1920240" cy="1554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78624" y="3611880"/>
            <a:ext cx="1920240" cy="6400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78624" y="3840480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65A82"/>
                </a:solidFill>
                <a:latin typeface="Calibri"/>
              </a:rPr>
              <a:t>LOGISTICS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78624" y="4389120"/>
            <a:ext cx="1920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Trips · vehicles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91472" y="3611880"/>
            <a:ext cx="1920240" cy="1554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91472" y="3611880"/>
            <a:ext cx="1920240" cy="6400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91472" y="3840480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65A82"/>
                </a:solidFill>
                <a:latin typeface="Calibri"/>
              </a:rPr>
              <a:t>ใบน้อย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91472" y="4389120"/>
            <a:ext cx="1920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A6 pick slips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263640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Source: PRODUCTION_HANDOVER_EGGGRADE_OMS.md § 5 · LOGIC_BASE_SPEC.md §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9224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5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EggGrade OMS · Production Handover · 2026-05-26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65A82"/>
                </a:solidFill>
                <a:latin typeface="Calibri"/>
              </a:rPr>
              <a:t>End-to-End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6017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15 stages from PO to Delivered · stages 1–11 built · 12–15 future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60175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640080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1118585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1">
                <a:solidFill>
                  <a:srgbClr val="21295C"/>
                </a:solidFill>
                <a:latin typeface="Calibri"/>
              </a:rPr>
              <a:t>PO Qty → Order Qty → Planning Qty → Confirmed Planning Qty → BOM Qty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77440"/>
            <a:ext cx="1033271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377440"/>
            <a:ext cx="1033271" cy="3200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395728"/>
            <a:ext cx="1033271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834640"/>
            <a:ext cx="1033271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PO Intake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35607" y="2377440"/>
            <a:ext cx="1033271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5607" y="2377440"/>
            <a:ext cx="1033271" cy="3200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35607" y="2395728"/>
            <a:ext cx="1033271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7" y="2834640"/>
            <a:ext cx="1033271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Order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05456" y="2377440"/>
            <a:ext cx="1033271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05456" y="2377440"/>
            <a:ext cx="1033271" cy="3200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05456" y="2395728"/>
            <a:ext cx="1033271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05456" y="2834640"/>
            <a:ext cx="1033271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PO Qty</a:t>
            </a:r>
          </a:p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locked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75303" y="2377440"/>
            <a:ext cx="1033271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75303" y="2377440"/>
            <a:ext cx="1033271" cy="3200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75303" y="2395728"/>
            <a:ext cx="1033271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75303" y="2834640"/>
            <a:ext cx="1033271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Order Qty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2377440"/>
            <a:ext cx="1033271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2377440"/>
            <a:ext cx="1033271" cy="3200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2395728"/>
            <a:ext cx="1033271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2834640"/>
            <a:ext cx="1033271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Planning</a:t>
            </a:r>
          </a:p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Qty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0" y="2377440"/>
            <a:ext cx="1033271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15000" y="2377440"/>
            <a:ext cx="1033271" cy="3200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0" y="2395728"/>
            <a:ext cx="1033271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2834640"/>
            <a:ext cx="1033271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Confirmed</a:t>
            </a:r>
          </a:p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Planning Qty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2377440"/>
            <a:ext cx="1033271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84848" y="2377440"/>
            <a:ext cx="1033271" cy="3200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84848" y="2395728"/>
            <a:ext cx="1033271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84848" y="2834640"/>
            <a:ext cx="1033271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BOM</a:t>
            </a:r>
          </a:p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Requirement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54696" y="2377440"/>
            <a:ext cx="1033271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854696" y="2377440"/>
            <a:ext cx="1033271" cy="3200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54696" y="2395728"/>
            <a:ext cx="1033271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54696" y="2834640"/>
            <a:ext cx="1033271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Production</a:t>
            </a:r>
          </a:p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Planning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24544" y="2377440"/>
            <a:ext cx="1033271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24544" y="2377440"/>
            <a:ext cx="1033271" cy="3200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24544" y="2395728"/>
            <a:ext cx="1033271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24544" y="2834640"/>
            <a:ext cx="1033271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Logistics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94392" y="2377440"/>
            <a:ext cx="1033271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994392" y="2377440"/>
            <a:ext cx="1033271" cy="3200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94392" y="2395728"/>
            <a:ext cx="1033271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94392" y="2834640"/>
            <a:ext cx="1033271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ใบน้อย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064240" y="2377440"/>
            <a:ext cx="1033271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064240" y="2377440"/>
            <a:ext cx="1033271" cy="32004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064240" y="2395728"/>
            <a:ext cx="1033271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11+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64240" y="2834640"/>
            <a:ext cx="1033271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Dispatch /</a:t>
            </a:r>
          </a:p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Loaded /</a:t>
            </a:r>
          </a:p>
          <a:p>
            <a:pPr algn="ctr"/>
            <a:r>
              <a:rPr sz="1000" b="1" i="0">
                <a:solidFill>
                  <a:srgbClr val="1F2937"/>
                </a:solidFill>
                <a:latin typeface="Calibri"/>
              </a:rPr>
              <a:t>Delivered  ⇢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114800"/>
            <a:ext cx="228600" cy="2286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4069080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= UAT-Confirmed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68880" y="4114800"/>
            <a:ext cx="228600" cy="2286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88920" y="4069080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= Future-Feature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4663440"/>
            <a:ext cx="11460175" cy="1554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4754880"/>
            <a:ext cx="1109441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Quantity glossary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5029200"/>
            <a:ext cx="11094415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PO Qty — original customer quantity, immutable after upload.</a:t>
            </a:r>
          </a:p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Order Qty — operational requested quantity (editable).</a:t>
            </a:r>
          </a:p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Planning Qty — quantity used for demand planning.</a:t>
            </a:r>
          </a:p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Confirmed Planning Qty — rollup gate · drives BOM · BOM never reads drafts.</a:t>
            </a:r>
          </a:p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BOM Requirement — egg + basket + packaging derived from Confirmed Planning Qty.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6263640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Source: LOGIC_BASE_SPEC.md §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9224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6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EggGrade OMS · Production Handover · 2026-05-26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65A82"/>
                </a:solidFill>
                <a:latin typeface="Calibri"/>
              </a:rPr>
              <a:t>Order with 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6017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PO Qty captured and locked at parse · Order Qty stays editable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60175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640080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1118585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1">
                <a:solidFill>
                  <a:srgbClr val="21295C"/>
                </a:solidFill>
                <a:latin typeface="Calibri"/>
              </a:rPr>
              <a:t>Three parsers (Makro / BigC / Thaifood) · CJ deferred · placeholder lifecycle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77440"/>
            <a:ext cx="1691640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377440"/>
            <a:ext cx="1691640" cy="91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743200"/>
            <a:ext cx="16916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PO</a:t>
            </a:r>
          </a:p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Received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057400" y="2834640"/>
            <a:ext cx="228600" cy="365760"/>
          </a:xfrm>
          <a:prstGeom prst="rightArrow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2377440"/>
            <a:ext cx="1691640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2377440"/>
            <a:ext cx="1691640" cy="914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2743200"/>
            <a:ext cx="16916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Upload</a:t>
            </a:r>
          </a:p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(parser)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977640" y="2834640"/>
            <a:ext cx="228600" cy="365760"/>
          </a:xfrm>
          <a:prstGeom prst="rightArrow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6240" y="2377440"/>
            <a:ext cx="1691640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06240" y="2377440"/>
            <a:ext cx="1691640" cy="91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2743200"/>
            <a:ext cx="16916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PO Qty</a:t>
            </a:r>
          </a:p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locked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897880" y="2834640"/>
            <a:ext cx="228600" cy="365760"/>
          </a:xfrm>
          <a:prstGeom prst="rightArrow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2377440"/>
            <a:ext cx="1691640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2377440"/>
            <a:ext cx="1691640" cy="914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2743200"/>
            <a:ext cx="16916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Customer / Site /</a:t>
            </a:r>
          </a:p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SKU mapping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818120" y="2834640"/>
            <a:ext cx="228600" cy="365760"/>
          </a:xfrm>
          <a:prstGeom prst="rightArrow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2377440"/>
            <a:ext cx="1691640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2377440"/>
            <a:ext cx="1691640" cy="91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2743200"/>
            <a:ext cx="16916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Order draft</a:t>
            </a:r>
          </a:p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→ Confirm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738360" y="2834640"/>
            <a:ext cx="228600" cy="365760"/>
          </a:xfrm>
          <a:prstGeom prst="rightArrow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66960" y="2377440"/>
            <a:ext cx="1691640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6960" y="2377440"/>
            <a:ext cx="1691640" cy="914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2743200"/>
            <a:ext cx="16916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Daily 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023360"/>
            <a:ext cx="11460175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65A82"/>
                </a:solidFill>
                <a:latin typeface="Calibri"/>
              </a:rPr>
              <a:t>• </a:t>
            </a:r>
            <a:r>
              <a:rPr sz="1400">
                <a:solidFill>
                  <a:srgbClr val="1F2937"/>
                </a:solidFill>
                <a:latin typeface="Calibri"/>
              </a:rPr>
              <a:t>PO Qty is captured at parse time and treated as immutable.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65A82"/>
                </a:solidFill>
                <a:latin typeface="Calibri"/>
              </a:rPr>
              <a:t>• </a:t>
            </a:r>
            <a:r>
              <a:rPr sz="1400">
                <a:solidFill>
                  <a:srgbClr val="1F2937"/>
                </a:solidFill>
                <a:latin typeface="Calibri"/>
              </a:rPr>
              <a:t>Order Qty defaults to PO Qty; operator may adjust for split / partial fulfillment.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65A82"/>
                </a:solidFill>
                <a:latin typeface="Calibri"/>
              </a:rPr>
              <a:t>• </a:t>
            </a:r>
            <a:r>
              <a:rPr sz="1400">
                <a:solidFill>
                  <a:srgbClr val="1F2937"/>
                </a:solidFill>
                <a:latin typeface="Calibri"/>
              </a:rPr>
              <a:t>Unknown SKUs create placeholder items — must be resolved before confirm.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65A82"/>
                </a:solidFill>
                <a:latin typeface="Calibri"/>
              </a:rPr>
              <a:t>• </a:t>
            </a:r>
            <a:r>
              <a:rPr sz="1400">
                <a:solidFill>
                  <a:srgbClr val="1F2937"/>
                </a:solidFill>
                <a:latin typeface="Calibri"/>
              </a:rPr>
              <a:t>Parsers parseMakroPoSheet / parseBigCPoXlsx / parseThaifoodPoXlsx are protected.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263640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Source: LOGIC_BASE_SPEC.md § 3.1 · Flow 1 in TESTING_SCENARIOS_AND_USER_FLOWS.md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9224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EggGrade OMS · Production Handover · 2026-05-26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65A82"/>
                </a:solidFill>
                <a:latin typeface="Calibri"/>
              </a:rPr>
              <a:t>Order without 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6017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Direct / manual orders · PO Qty = null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60175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640080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1118585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1">
                <a:solidFill>
                  <a:srgbClr val="21295C"/>
                </a:solidFill>
                <a:latin typeface="Calibri"/>
              </a:rPr>
              <a:t>Same Daily Plan rollup · PO Qty just remains null · future PO reconciliation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77440"/>
            <a:ext cx="1691640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377440"/>
            <a:ext cx="1691640" cy="91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743200"/>
            <a:ext cx="16916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Store / phone</a:t>
            </a:r>
          </a:p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request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057400" y="2834640"/>
            <a:ext cx="228600" cy="365760"/>
          </a:xfrm>
          <a:prstGeom prst="rightArrow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2377440"/>
            <a:ext cx="1691640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2377440"/>
            <a:ext cx="1691640" cy="914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2743200"/>
            <a:ext cx="16916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Operator</a:t>
            </a:r>
          </a:p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creates order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977640" y="2834640"/>
            <a:ext cx="228600" cy="365760"/>
          </a:xfrm>
          <a:prstGeom prst="rightArrow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6240" y="2377440"/>
            <a:ext cx="1691640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06240" y="2377440"/>
            <a:ext cx="1691640" cy="91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2743200"/>
            <a:ext cx="16916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Validate</a:t>
            </a:r>
          </a:p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fields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897880" y="2834640"/>
            <a:ext cx="228600" cy="365760"/>
          </a:xfrm>
          <a:prstGeom prst="rightArrow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2377440"/>
            <a:ext cx="1691640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2377440"/>
            <a:ext cx="1691640" cy="914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2743200"/>
            <a:ext cx="16916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Confirm</a:t>
            </a:r>
          </a:p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order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818120" y="2834640"/>
            <a:ext cx="228600" cy="365760"/>
          </a:xfrm>
          <a:prstGeom prst="rightArrow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2377440"/>
            <a:ext cx="1691640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2377440"/>
            <a:ext cx="1691640" cy="91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2743200"/>
            <a:ext cx="16916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Daily Plan</a:t>
            </a:r>
          </a:p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Demand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738360" y="2834640"/>
            <a:ext cx="228600" cy="365760"/>
          </a:xfrm>
          <a:prstGeom prst="rightArrow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66960" y="2377440"/>
            <a:ext cx="1691640" cy="1280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6960" y="2377440"/>
            <a:ext cx="1691640" cy="9144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2743200"/>
            <a:ext cx="16916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Future · PO</a:t>
            </a:r>
          </a:p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reconciliation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023360"/>
            <a:ext cx="11460175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65A82"/>
                </a:solidFill>
                <a:latin typeface="Calibri"/>
              </a:rPr>
              <a:t>• </a:t>
            </a:r>
            <a:r>
              <a:rPr sz="1400">
                <a:solidFill>
                  <a:srgbClr val="1F2937"/>
                </a:solidFill>
                <a:latin typeface="Calibri"/>
              </a:rPr>
              <a:t>Validators enforce: customer + site + SKU + Order Qty required.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65A82"/>
                </a:solidFill>
                <a:latin typeface="Calibri"/>
              </a:rPr>
              <a:t>• </a:t>
            </a:r>
            <a:r>
              <a:rPr sz="1400">
                <a:solidFill>
                  <a:srgbClr val="1F2937"/>
                </a:solidFill>
                <a:latin typeface="Calibri"/>
              </a:rPr>
              <a:t>PO Qty stays null until / unless a PO arrives later.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65A82"/>
                </a:solidFill>
                <a:latin typeface="Calibri"/>
              </a:rPr>
              <a:t>• </a:t>
            </a:r>
            <a:r>
              <a:rPr sz="1400">
                <a:solidFill>
                  <a:srgbClr val="1F2937"/>
                </a:solidFill>
                <a:latin typeface="Calibri"/>
              </a:rPr>
              <a:t>Manual + PO-based orders for the same SKU aggregate in BOM rollup.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65A82"/>
                </a:solidFill>
                <a:latin typeface="Calibri"/>
              </a:rPr>
              <a:t>• </a:t>
            </a:r>
            <a:r>
              <a:rPr sz="1400">
                <a:solidFill>
                  <a:srgbClr val="1F2937"/>
                </a:solidFill>
                <a:latin typeface="Calibri"/>
              </a:rPr>
              <a:t>Future PO reconciliation is on the roadmap (P4+).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263640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Source: LOGIC_BASE_SPEC.md § 3.2 · Flow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9224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8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EggGrade OMS · Production Handover · 2026-05-26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65A82"/>
                </a:solidFill>
                <a:latin typeface="Calibri"/>
              </a:rPr>
              <a:t>Quantity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6017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PO Qty → Order Qty → Planning Qty → Confirmed Planning Qty → BOM Qty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60175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640080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1118585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1">
                <a:solidFill>
                  <a:srgbClr val="21295C"/>
                </a:solidFill>
                <a:latin typeface="Calibri"/>
              </a:rPr>
              <a:t>Five distinct numbers per order line · each transition is an operator decision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86000"/>
            <a:ext cx="2926080" cy="7315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423160"/>
            <a:ext cx="292608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PO Qty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286000"/>
            <a:ext cx="2743200" cy="7315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2423160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1F2937"/>
                </a:solidFill>
                <a:latin typeface="Calibri"/>
              </a:rPr>
              <a:t>1000 ถาด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6888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Customer PO document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063240"/>
            <a:ext cx="2926080" cy="7315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200400"/>
            <a:ext cx="292608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Order Qty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3063240"/>
            <a:ext cx="2743200" cy="7315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3200400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1F2937"/>
                </a:solidFill>
                <a:latin typeface="Calibri"/>
              </a:rPr>
              <a:t>1000 ถาด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4612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Operator confirms as-is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40480"/>
            <a:ext cx="2926080" cy="7315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977640"/>
            <a:ext cx="292608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Planning Qty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840480"/>
            <a:ext cx="2743200" cy="7315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977640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1F2937"/>
                </a:solidFill>
                <a:latin typeface="Calibri"/>
              </a:rPr>
              <a:t>950 ถาด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0233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Reserve 50 for next round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617720"/>
            <a:ext cx="2926080" cy="7315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754880"/>
            <a:ext cx="292608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Confirmed Planning Qty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4617720"/>
            <a:ext cx="2743200" cy="7315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0" y="4754880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1F2937"/>
                </a:solidFill>
                <a:latin typeface="Calibri"/>
              </a:rPr>
              <a:t>900 ถาด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80060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Capacity check trims 50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394960"/>
            <a:ext cx="2926080" cy="731520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532120"/>
            <a:ext cx="292608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BOM Qty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0" y="5394960"/>
            <a:ext cx="2743200" cy="7315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83280" y="5532120"/>
            <a:ext cx="27432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1F2937"/>
                </a:solidFill>
                <a:latin typeface="Calibri"/>
              </a:rPr>
              <a:t>27,000 ฟอง 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57784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900 × 30 = 27,000 (derived)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263640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Source: LOGIC_BASE_SPEC.md § 2 · Flow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9224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9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EggGrade OMS · Production Handover · 2026-05-26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65A82"/>
                </a:solidFill>
                <a:latin typeface="Calibri"/>
              </a:rPr>
              <a:t>Demand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6017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Group confirmed orders by date / round / customer / site / SKU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60175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640080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1118585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1">
                <a:solidFill>
                  <a:srgbClr val="21295C"/>
                </a:solidFill>
                <a:latin typeface="Calibri"/>
              </a:rPr>
              <a:t>4 rounds per date · Planning Qty editable until round confirm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94560"/>
            <a:ext cx="5547207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21992"/>
            <a:ext cx="5547207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Inputs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547207" cy="4114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88920"/>
            <a:ext cx="5272887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Confirmed orders for the date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Customer / site / SKU master data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Round selector (R1 / R2 / R3 / R4)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Operator planning judgement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8727" y="2194560"/>
            <a:ext cx="5547207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8727" y="2221992"/>
            <a:ext cx="5547207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Outputs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2651760"/>
            <a:ext cx="5547207" cy="4114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5887" y="2788920"/>
            <a:ext cx="5272887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Lines grouped by (date · round · customer · site · SKU)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Planning Qty per line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Confirmed Planning Qty after round confirm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Drives Daily Plan BOM rollup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263640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Source: LOGIC_BASE_SPEC.md § 4.1 · Flow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9224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10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EggGrade OMS · Production Handover · 2026-05-26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65A82"/>
                </a:solidFill>
                <a:latin typeface="Calibri"/>
              </a:rPr>
              <a:t>Logistics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6017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Trips · vehicles · drivers · stop order · drives ใบน้อย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60175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640080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1118585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1">
                <a:solidFill>
                  <a:srgbClr val="21295C"/>
                </a:solidFill>
                <a:latin typeface="Calibri"/>
              </a:rPr>
              <a:t>Operator-driven · no auto-routing · vehicle types from option_set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94560"/>
            <a:ext cx="5547207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21992"/>
            <a:ext cx="5547207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Inputs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547207" cy="4114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88920"/>
            <a:ext cx="5272887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Demand lines for the date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Vehicle types from option_sets.vehicle_type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Driver / plate assignments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Stop order preference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8727" y="2194560"/>
            <a:ext cx="5547207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8727" y="2221992"/>
            <a:ext cx="5547207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Outputs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2651760"/>
            <a:ext cx="5547207" cy="4114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5887" y="2788920"/>
            <a:ext cx="5272887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Trip groupings (Trip 1 · Trip 2 · …)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Per-trip vehicle / driver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ใบน้อย A6 pick slips per trip × customer × site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Future: Dispatch / Loaded / Delivered loops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263640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Source: LOGIC_BASE_SPEC.md § 4.2 · Flow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9224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11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EggGrade OMS · Production Handover · 2026-05-26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65A82"/>
                </a:solidFill>
                <a:latin typeface="Calibri"/>
              </a:rPr>
              <a:t>Confirmed → BOM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6017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Confirmed Planning Qty drives BOM rollup · known integration gap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60175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640080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1118585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1">
                <a:solidFill>
                  <a:srgbClr val="21295C"/>
                </a:solidFill>
                <a:latin typeface="Calibri"/>
              </a:rPr>
              <a:t>Production must unify renderPlanBom with buildBomComponentLinesForItem (Phase P4)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94560"/>
            <a:ext cx="5547207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21992"/>
            <a:ext cx="5547207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What Daily Plan BOM gives the floor today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547207" cy="4114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88920"/>
            <a:ext cx="5272887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Family rollup (ถาด / แพ็ค / มัด / ตะกร้า / อื่นๆ)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Egg requirement (before-mix / after-mix)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Basket count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Per-customer chip filter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BOM done flag tracking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8727" y="2194560"/>
            <a:ext cx="5547207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8727" y="2221992"/>
            <a:ext cx="5547207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Gaps tracked in BUG_LOG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2651760"/>
            <a:ext cx="5547207" cy="4114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5887" y="2788920"/>
            <a:ext cx="5272887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UAT-016 — renderPlanBom reads wrong path for base_per_pack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UAT-042 — Packaging editor materials don't roll up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UAT-046 — Packaging Profile tray doesn't roll up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All three close in Phase P4 of the migration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Server-side: call buildBomComponentLinesForItem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263640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Source: LOGIC_BASE_SPEC.md § 9 · PRODUCTION_ROADMAP.md Phase P4 · Flow 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9224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12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EggGrade OMS · Production Handover · 2026-05-26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65A82"/>
                </a:solidFill>
                <a:latin typeface="Calibri"/>
              </a:rPr>
              <a:t>Master Data — the reference data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6017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MASTER_V3 = customers + sites + items + option_sets + meta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60175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640080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1118585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1">
                <a:solidFill>
                  <a:srgbClr val="21295C"/>
                </a:solidFill>
                <a:latin typeface="Calibri"/>
              </a:rPr>
              <a:t>Every module reads from MASTER_V3 · add-only Controlled Lists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onsolas"/>
              </a:rPr>
              <a:t>MASTER_V3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1031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↓ root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87168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onsolas"/>
              </a:rPr>
              <a:t>customers[]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48716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consumed by Orders / Daily Plan / Logistics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71216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onsolas"/>
              </a:rPr>
              <a:t>sites[]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871216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consumed by Orders / Daily Plan / Logistics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5526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onsolas"/>
              </a:rPr>
              <a:t>items[]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255264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consumed by everything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  <a:latin typeface="Consolas"/>
              </a:rPr>
              <a:t>    units.*  ladder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63931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base / pack / basket / storage / consumable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23360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  <a:latin typeface="Consolas"/>
              </a:rPr>
              <a:t>    egg profile fields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02336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primary · secondary · min_primary · egg_content_type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07408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  <a:latin typeface="Consolas"/>
              </a:rPr>
              <a:t>    basket profile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40740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has_basket_unit · base_per_basket · basket_unit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91456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  <a:latin typeface="Consolas"/>
              </a:rPr>
              <a:t>    bom.components[]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791456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produced by buildBomComponentLinesForItem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175504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onsolas"/>
              </a:rPr>
              <a:t>option_sets[]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5175504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controlled lists · add-only · ~14 unit · 7 egg_grade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559552"/>
            <a:ext cx="4114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onsolas"/>
              </a:rPr>
              <a:t>meta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5559552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audit / version metadata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263640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Source: LOGIC_BASE_SPEC.md § 1, § 10 · UI_BASIS § 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9224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13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EggGrade OMS · Production Handover · 2026-05-26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65A82"/>
                </a:solidFill>
                <a:latin typeface="Calibri"/>
              </a:rPr>
              <a:t>Item Master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6017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Seven sections rendered as collapsible _sec(...) blocks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60175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640080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1118585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1">
                <a:solidFill>
                  <a:srgbClr val="21295C"/>
                </a:solidFill>
                <a:latin typeface="Calibri"/>
              </a:rPr>
              <a:t>Counting &amp; Units defines conversion · Egg / Basket Profile feed BOM components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94560"/>
            <a:ext cx="45720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67712"/>
            <a:ext cx="457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194560"/>
            <a:ext cx="10424160" cy="5029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240280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86000"/>
            <a:ext cx="6858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sku · name · barcode · description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61488"/>
            <a:ext cx="45720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834640"/>
            <a:ext cx="457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2761488"/>
            <a:ext cx="10424160" cy="5029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807208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Counting &amp; Units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852928"/>
            <a:ext cx="6858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base_unit · pack · storage · basket · selling_unit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328416"/>
            <a:ext cx="45720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401568"/>
            <a:ext cx="457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3328416"/>
            <a:ext cx="10424160" cy="5029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374136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Basket Profile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419856"/>
            <a:ext cx="6858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has_basket_unit · base_per_basket · selected basket SKU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895344"/>
            <a:ext cx="45720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968496"/>
            <a:ext cx="457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3895344"/>
            <a:ext cx="10424160" cy="5029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3941064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Egg Profile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986784"/>
            <a:ext cx="6858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is_egg · primary · secondary · min_primary · content_type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462272"/>
            <a:ext cx="45720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535424"/>
            <a:ext cx="457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4462272"/>
            <a:ext cx="10424160" cy="5029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507992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BOM / สูตรผลิต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4553712"/>
            <a:ext cx="6858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Status · Output · Components · Test calc · Advanced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029200"/>
            <a:ext cx="45720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5102352"/>
            <a:ext cx="457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5029200"/>
            <a:ext cx="10424160" cy="5029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074920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External Refs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5120640"/>
            <a:ext cx="6858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partner_id · partner_item_number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596128"/>
            <a:ext cx="45720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5669280"/>
            <a:ext cx="457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" y="5596128"/>
            <a:ext cx="10424160" cy="5029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5641848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System / Audit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5687568"/>
            <a:ext cx="6858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basket_type (legacy) · created_at · updated_at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263640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Source: LOGIC_BASE_SPEC.md § 1 · UI_BASIS § 7–§ 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9224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14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EggGrade OMS · Production Handover · 2026-05-26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65A82"/>
                </a:solidFill>
                <a:latin typeface="Calibri"/>
              </a:rPr>
              <a:t>Unit Conversion — label vs integer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6017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Critical rule: pack_unit is a LABEL · base_per_pack is the CONVERSION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60175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640080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1118585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1">
                <a:solidFill>
                  <a:srgbClr val="21295C"/>
                </a:solidFill>
                <a:latin typeface="Calibri"/>
              </a:rPr>
              <a:t>Eggs-per-pack is the INTEGER · the label may say something different · the integer wins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94560"/>
            <a:ext cx="11460175" cy="2011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194560"/>
            <a:ext cx="109728" cy="2011680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31720"/>
            <a:ext cx="1127729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Example — a SKU may legally have: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1127729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onsolas"/>
              </a:rPr>
              <a:t>  item.units.pack_unit      = "แพ็ค 10"     ← LABEL (display)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08960"/>
            <a:ext cx="1127729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DC2626"/>
                </a:solidFill>
                <a:latin typeface="Consolas"/>
              </a:rPr>
              <a:t>  item.units.base_per_pack  = 12              ← INTEGER (truth)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66160"/>
            <a:ext cx="1127729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21295C"/>
                </a:solidFill>
                <a:latin typeface="Calibri"/>
              </a:rPr>
              <a:t>Eggs per pack = 12, NOT 10. Never parse digits out of the label string.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434840"/>
            <a:ext cx="114601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Use these helpers — do not re-derive: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800600"/>
            <a:ext cx="11460175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normalizeItemUnits(item) — normalized units object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getSellingUnitBaseFactor(item) — base units per 1 selling unit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convertSellingQtyToBase(item, qty) — selling-unit qty → base units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263640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Source: LOGIC_BASE_SPEC.md § 5 · DEV_HANDOVER_2026-05-18 · UAT-016 closes in P4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9224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15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EggGrade OMS · Production Handover · 2026-05-26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65A82"/>
                </a:solidFill>
                <a:latin typeface="Calibri"/>
              </a:rPr>
              <a:t>Egg Profile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6017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Egg BOM lines are DERIVED from Egg Profile — never typed by hand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60175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640080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1118585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1">
                <a:solidFill>
                  <a:srgbClr val="21295C"/>
                </a:solidFill>
                <a:latin typeface="Calibri"/>
              </a:rPr>
              <a:t>Mixed SKU → primary minimum + secondary balance · min_primary controls the split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94560"/>
            <a:ext cx="5547207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21992"/>
            <a:ext cx="5547207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Single-grade SKU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547207" cy="4114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88920"/>
            <a:ext cx="5272887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is_egg = true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primary_grade = M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secondary_grade empty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Produces 1 egg BOM line: 30 ฟอง M per ถาด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8727" y="2194560"/>
            <a:ext cx="5547207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8727" y="2221992"/>
            <a:ext cx="5547207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Mixed SKU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2651760"/>
            <a:ext cx="5547207" cy="4114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5887" y="2788920"/>
            <a:ext cx="5272887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primary_grade = M · secondary_grade = 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min_primary = 40 (percent)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Line 1: ≥ 40% × total in M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Line 2: ≤ 60% × total in 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Note: ใช้เบอร์ใหญ่แทนได้ (no auto substitution yet)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263640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Source: LOGIC_BASE_SPEC.md § 6 · Flow 7 + Flow 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9224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16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EggGrade OMS · Production Handover · 2026-05-26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65A82"/>
                </a:solidFill>
                <a:latin typeface="Calibri"/>
              </a:rPr>
              <a:t>Basket Profile Logic (final · Task 8C-2E)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6017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has_basket_unit === true is the SINGLE active switch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60175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640080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1118585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1">
                <a:solidFill>
                  <a:srgbClr val="21295C"/>
                </a:solidFill>
                <a:latin typeface="Calibri"/>
              </a:rPr>
              <a:t>ON → live recomputed qty · OFF → preserved but inactive · no BOM failure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94560"/>
            <a:ext cx="5547207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21992"/>
            <a:ext cx="5547207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Uses basket — 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547207" cy="4114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88920"/>
            <a:ext cx="5272887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Basket line appears in BOM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Qty = base_per_selling_unit ÷ base_per_basket (live)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Display unit comes from selected basket SKU's base_unit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Selling-unit change updates qty immediately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Stored qty is informational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8727" y="2194560"/>
            <a:ext cx="5547207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8727" y="2221992"/>
            <a:ext cx="5547207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Uses basket — OFF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2651760"/>
            <a:ext cx="5547207" cy="4114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5887" y="2788920"/>
            <a:ext cx="5272887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No active basket line in BOM table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Stored basket component preserved in components[]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Note: 'preserved but inactive' shown in Profile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BOM does NOT fail because basket is off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Re-checking ON restores selected basket SKU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263640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Source: LOGIC_BASE_SPEC.md § 7 · Flow 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9224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17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EggGrade OMS · Production Handover · 2026-05-26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65A82"/>
                </a:solidFill>
                <a:latin typeface="Calibri"/>
              </a:rPr>
              <a:t>BOM — one component-line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6017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buildBomComponentLinesForItem(item) is the canonical producer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60175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640080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1118585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1">
                <a:solidFill>
                  <a:srgbClr val="21295C"/>
                </a:solidFill>
                <a:latin typeface="Calibri"/>
              </a:rPr>
              <a:t>Egg + Basket + Packaging Profile lines are LOCKED · BOM Setup lines are editable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86000"/>
            <a:ext cx="182880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1691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2286000"/>
            <a:ext cx="228600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2377440"/>
            <a:ext cx="21488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Source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2286000"/>
            <a:ext cx="164592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377440"/>
            <a:ext cx="15087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Editable?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286000"/>
            <a:ext cx="585216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377440"/>
            <a:ext cx="5715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88920"/>
            <a:ext cx="1828800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880360"/>
            <a:ext cx="1691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🥚 Egg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2788920"/>
            <a:ext cx="2286000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2880360"/>
            <a:ext cx="21488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egg_profile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2788920"/>
            <a:ext cx="1645920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2880360"/>
            <a:ext cx="15087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788920"/>
            <a:ext cx="5852160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880360"/>
            <a:ext cx="5715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Egg Profile section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291840"/>
            <a:ext cx="1828800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383280"/>
            <a:ext cx="1691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🧺 Basket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94560" y="3291840"/>
            <a:ext cx="2286000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3383280"/>
            <a:ext cx="21488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basket_profile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0" y="3291840"/>
            <a:ext cx="1645920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3383280"/>
            <a:ext cx="15087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3291840"/>
            <a:ext cx="5852160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3383280"/>
            <a:ext cx="5715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Basket Profile section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794760"/>
            <a:ext cx="1828800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886200"/>
            <a:ext cx="1691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📦 Pack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0" y="3794760"/>
            <a:ext cx="2286000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86000" y="3886200"/>
            <a:ext cx="21488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packaging_profile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0560" y="3794760"/>
            <a:ext cx="1645920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3886200"/>
            <a:ext cx="15087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3794760"/>
            <a:ext cx="5852160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3886200"/>
            <a:ext cx="5715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Packaging Profile (Task 10A)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297680"/>
            <a:ext cx="1828800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389120"/>
            <a:ext cx="1691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📦 Pack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94560" y="4297680"/>
            <a:ext cx="2286000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86000" y="4389120"/>
            <a:ext cx="21488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bom_setup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80560" y="4297680"/>
            <a:ext cx="1645920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0" y="4389120"/>
            <a:ext cx="15087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yes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80" y="4297680"/>
            <a:ext cx="5852160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0" y="4389120"/>
            <a:ext cx="5715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BOM Setup / packaging editor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5029200"/>
            <a:ext cx="11460175" cy="11887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65760" y="5029200"/>
            <a:ext cx="109728" cy="1188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5120640"/>
            <a:ext cx="1118585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Binary readiness gate (Task 8B-UI-4)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5440680"/>
            <a:ext cx="11185855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bom.enabled can only be checked when _bomItemReadiness(item) passes:</a:t>
            </a:r>
          </a:p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1) selling unit resolves  2) base/pack conversion resolves  3) basket conversion resolves if active  4) ≥1 BOM line  5) no needs-review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6263640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Source: LOGIC_BASE_SPEC.md § 8 · Flow 6 / 7 / 8 / 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9224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18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EggGrade OMS · Production Handover · 2026-05-26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65A82"/>
                </a:solidFill>
                <a:latin typeface="Calibri"/>
              </a:rPr>
              <a:t>Daily Plan BOM — current state +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6017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Family rollup works · Packaging editor lines don't yet flow through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60175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640080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1118585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1">
                <a:solidFill>
                  <a:srgbClr val="21295C"/>
                </a:solidFill>
                <a:latin typeface="Calibri"/>
              </a:rPr>
              <a:t>Production must unify the two paths in Phase P4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94560"/>
            <a:ext cx="5547207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21992"/>
            <a:ext cx="5547207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What works (UAT-Confirmed)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547207" cy="4114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88920"/>
            <a:ext cx="5272887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Family rollup ถาด / แพ็ค / มัด / ตะกร้า / อื่นๆ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Egg requirement before-mix / after-mix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Basket count per basket SKU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Per-customer chip filter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BOM done tracking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8727" y="2194560"/>
            <a:ext cx="5547207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8727" y="2221992"/>
            <a:ext cx="5547207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What's missing (BUG_LOG)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2651760"/>
            <a:ext cx="5547207" cy="4114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5887" y="2788920"/>
            <a:ext cx="5272887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UAT-016 · renderPlanBom reads wrong path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UAT-042 · Packaging materials don't roll up to Daily Plan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UAT-046 · Packaging Profile tray doesn't roll up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Production Phase P4 closes all three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</a:t>
            </a:r>
            <a:r>
              <a:rPr sz="1300">
                <a:solidFill>
                  <a:srgbClr val="1F2937"/>
                </a:solidFill>
                <a:latin typeface="Calibri"/>
              </a:rPr>
              <a:t>Use buildBomComponentLinesForItem server-side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263640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Source: LOGIC_BASE_SPEC.md § 9 · PRODUCTION_ROADMAP.md P4 · Flow 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9224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19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EggGrade OMS · Production Handover · 2026-05-26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65A82"/>
                </a:solidFill>
                <a:latin typeface="Calibri"/>
              </a:rPr>
              <a:t>UI Basis · 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6017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Default landing screen · KPIs + filters + tickets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6858000" cy="4297680"/>
          </a:xfrm>
          <a:prstGeom prst="rect">
            <a:avLst/>
          </a:prstGeom>
          <a:solidFill>
            <a:srgbClr val="F5F5F5"/>
          </a:solidFill>
          <a:ln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6858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065A82"/>
                </a:solidFill>
                <a:latin typeface="Calibri"/>
              </a:rPr>
              <a:t>[SCREENSHOT NEEDED · UI-01-orders-landing.png]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6492240" cy="3566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┌─ Orders ──────────────────────────────────────────────┐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[Tickets by status] [Total eggs] [Sites] [Fast-track]│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                                              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Filters: customer · region · egg_size · sku · site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                                              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┌─ Orders table ─────────────────────────────────┐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│ Date │ Customer │ Site │ Status │ Qty │ Edit   │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└────────────────────────────────────────────────┘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└───────────────────────────────────────────────────────┘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554480"/>
            <a:ext cx="448056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600200"/>
            <a:ext cx="44805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Talking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011680"/>
            <a:ext cx="4480560" cy="3840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2148840"/>
            <a:ext cx="420624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Default landing tab on app boot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4 KPI cards drive operator attention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Filters: customer / region / egg size / SKU / site / day-of-week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Per-row Edit opens ticket detail (PO / Logistics / Quantity Lifecycle / Audit)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Needs Attention badge flags placeholder / missing mapping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Related test: Flow 1, Flow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263640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Source: UI_BASIS_WITH_SCREENSHOTS.md § 1 · Capture per § 15 checklist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9224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20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EggGrade OMS · Production Handover · 2026-05-26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65A82"/>
                </a:solidFill>
                <a:latin typeface="Calibri"/>
              </a:rPr>
              <a:t>UI Basis · Daily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6017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Four sub-tabs: Demand · BOM · ใบน้อย · Logistics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6858000" cy="4297680"/>
          </a:xfrm>
          <a:prstGeom prst="rect">
            <a:avLst/>
          </a:prstGeom>
          <a:solidFill>
            <a:srgbClr val="F5F5F5"/>
          </a:solidFill>
          <a:ln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6858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065A82"/>
                </a:solidFill>
                <a:latin typeface="Calibri"/>
              </a:rPr>
              <a:t>[SCREENSHOT NEEDED · UI-03-dailyplan-demand.png + UI-05-dailyplan-bom.png]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6492240" cy="3566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┌─ Daily plan · Demand · 2026-05-27 ─────────────────────┐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Round: [R1] [R2] [R3] [R4]                    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┌─ Waiting ─────────────────────────────────────┐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│ Customer │ Site │ SKU │ Order │ Planning │ Acc │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└───────────────────────────────────────────────┘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┌─ Accepted R1 ─────────────────────────────────┐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│ Customer │ Site │ SKU │ Confirmed Planning Qty│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└───────────────────────────────────────────────┘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                                              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Daily plan · BOM  →  family rollup ↓          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ถาด · แพ็ค · มัด · ตะกร้า · อื่นๆ               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└───────────────────────────────────────────────────────┘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554480"/>
            <a:ext cx="448056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600200"/>
            <a:ext cx="44805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Talking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011680"/>
            <a:ext cx="4480560" cy="3840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2148840"/>
            <a:ext cx="420624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Demand sub-tab: lines move into rounds R1..R4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BOM sub-tab: family rollup + egg-size requirement panel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Logistics sub-tab: trip / vehicle / driver / stop order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ใบน้อย sub-tab: printable A6 pick slips per trip × customer × site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Confirmed Planning Qty drives BOM rollup (rollup gate)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Related test: Flow 4, 5,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263640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Source: UI_BASIS_WITH_SCREENSHOTS.md § 3 / § 4 / § 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9224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21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EggGrade OMS · Production Handover · 2026-05-26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65A82"/>
                </a:solidFill>
                <a:latin typeface="Calibri"/>
              </a:rPr>
              <a:t>UI Basis · Master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6017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Customers · Sites · Items · Controlled Lists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6858000" cy="4297680"/>
          </a:xfrm>
          <a:prstGeom prst="rect">
            <a:avLst/>
          </a:prstGeom>
          <a:solidFill>
            <a:srgbClr val="F5F5F5"/>
          </a:solidFill>
          <a:ln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6858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065A82"/>
                </a:solidFill>
                <a:latin typeface="Calibri"/>
              </a:rPr>
              <a:t>[SCREENSHOT NEEDED · UI-06-master-customers.png + UI-06c-master-items.png]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6492240" cy="3566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┌─ ข้อมูลหลัก · Master Data ────────────────────────────┐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Sub-tabs:                                     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[Customers] [Sites] [Items] [Controlled Lists]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                                              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[Need Attention]   [Run Master Data Health]   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                                              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┌─ Items table ─────────────────────────────────┐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│ SKU │ Name │ Role │ Type │ Egg grade │ Edit   │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└────────────────────────────────────────────────┘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└───────────────────────────────────────────────────────┘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554480"/>
            <a:ext cx="448056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600200"/>
            <a:ext cx="44805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Talking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011680"/>
            <a:ext cx="4480560" cy="3840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2148840"/>
            <a:ext cx="420624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Customers / Sites / Items / Controlled Lists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130 items in current corrected master JSON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Need Attention block flags placeholders / orphans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Master Data Health surfaces non-blocking warnings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All writes route through persistMasterV3 (backup before write)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Related test: Flow 7, 8,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263640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Source: UI_BASIS_WITH_SCREENSHOTS.md § 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9224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22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EggGrade OMS · Production Handover · 2026-05-26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65A82"/>
                </a:solidFill>
                <a:latin typeface="Calibri"/>
              </a:rPr>
              <a:t>UI Basis · Item Edit — Counting &amp; Units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6017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Unit ladder · selling unit · conversion preview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6858000" cy="4297680"/>
          </a:xfrm>
          <a:prstGeom prst="rect">
            <a:avLst/>
          </a:prstGeom>
          <a:solidFill>
            <a:srgbClr val="F5F5F5"/>
          </a:solidFill>
          <a:ln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6858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065A82"/>
                </a:solidFill>
                <a:latin typeface="Calibri"/>
              </a:rPr>
              <a:t>[SCREENSHOT NEEDED · UI-07-item-edit-counting-units.png]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6492240" cy="3566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┌─ 📐 หน่วยและการนับ · Counting &amp; Units ────────────────┐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Base unit:     [ฟอง  ▼]                       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Pack unit:     [แพ็ค 10] · base_per_pack: [12]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Storage unit:  [พาเลท]   · base_per_storage: [1800]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Basket:        managed in Basket Profile      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                                              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Selling unit:  [ถาด  ▼]                       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                                              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Preview: 1 ถาด = 30 ฟอง · 1 พาเลท = 1800 ฟอง   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└───────────────────────────────────────────────────────┘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554480"/>
            <a:ext cx="448056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600200"/>
            <a:ext cx="44805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Talking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011680"/>
            <a:ext cx="4480560" cy="3840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2148840"/>
            <a:ext cx="420624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pack_unit is a LABEL · base_per_pack is the integer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Conversion preview chips computed at modal-open (UAT-029)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Selling-unit dropdown is a snapshot — save+reopen to refresh (UAT-017)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Save and reopen to refresh chip preview after unit edit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Related test: Flow 7, Flow 8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263640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Source: UI_BASIS_WITH_SCREENSHOTS.md § 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9224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23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EggGrade OMS · Production Handover · 2026-05-26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65A82"/>
                </a:solidFill>
                <a:latin typeface="Calibri"/>
              </a:rPr>
              <a:t>UI Basis · Item Edit — Egg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6017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Egg grade(s) and min_primary drive BOM egg lines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6858000" cy="4297680"/>
          </a:xfrm>
          <a:prstGeom prst="rect">
            <a:avLst/>
          </a:prstGeom>
          <a:solidFill>
            <a:srgbClr val="F5F5F5"/>
          </a:solidFill>
          <a:ln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6858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065A82"/>
                </a:solidFill>
                <a:latin typeface="Calibri"/>
              </a:rPr>
              <a:t>[SCREENSHOT NEEDED · UI-08-item-edit-egg-profile-single.png + UI-08b-mixed.png]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6492240" cy="3566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┌─ 🥚 ข้อมูลไข่ · Egg Profile ────────────────────────────┐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is_egg:               [✓]                     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Egg content type:     [single | mixed | ungraded]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Primary grade:        [M  ▼]                  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Secondary grade:      [S  ▼]   (mixed only)   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Min primary (%):      [40]    (mixed only · 0-100)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                                              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Preview lines (snapshot at open):             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 Primary minimum:  ≥ 40% × total → M          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 Secondary balance: ≤ 60% × total → S         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                                              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Note: ใช้เบอร์ใหญ่แทนได้ · larger eggs may substitute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└───────────────────────────────────────────────────────┘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554480"/>
            <a:ext cx="448056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600200"/>
            <a:ext cx="44805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Talking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011680"/>
            <a:ext cx="4480560" cy="3840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2148840"/>
            <a:ext cx="420624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Egg BOM lines are DERIVED, not typed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Single → 1 egg line; Mixed → primary minimum + secondary balance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min_primary ≤ 1 read as fraction (legacy guard)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No auto stock allocation; the larger-substitute rule is label-only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Related test: Flow 7, Flow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263640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Source: UI_BASIS_WITH_SCREENSHOTS.md § 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9224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24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EggGrade OMS · Production Handover · 2026-05-26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65A82"/>
                </a:solidFill>
                <a:latin typeface="Calibri"/>
              </a:rPr>
              <a:t>UI Basis · Item Edit — Basket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6017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Uses basket switch + basket SKU + live qty preview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6858000" cy="4297680"/>
          </a:xfrm>
          <a:prstGeom prst="rect">
            <a:avLst/>
          </a:prstGeom>
          <a:solidFill>
            <a:srgbClr val="F5F5F5"/>
          </a:solidFill>
          <a:ln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6858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065A82"/>
                </a:solidFill>
                <a:latin typeface="Calibri"/>
              </a:rPr>
              <a:t>[SCREENSHOT NEEDED · UI-09-item-edit-basket-profile-on.png + UI-09b-off.png]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6492240" cy="3566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┌─ 🧺 ข้อมูลตะกร้า · Basket Profile ─────────────────────┐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Uses basket:          [✓]                     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base_per_basket:      [180]                   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Basket SKU:           [B1MK0001 · ตะกร้า Makro  ▼]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                                              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Live quantity preview:                        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 Selling unit ถาด → 30 / 180 = 0.1667 / output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                                              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When unchecked:                               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 ⚠ Stored basket component preserved but inactive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└───────────────────────────────────────────────────────┘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554480"/>
            <a:ext cx="448056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600200"/>
            <a:ext cx="44805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Talking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011680"/>
            <a:ext cx="4480560" cy="3840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2148840"/>
            <a:ext cx="420624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has_basket_unit === true is the ONLY active switch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Qty is conversion-derived · stored qty is informational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Display unit comes from selected basket SKU's units.base_unit (e.g. ใบ)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Selling-unit change recomputes qty live (Task 8C-2E)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OFF preserves stored component but does not fail BOM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Related test: Flow 8, Flow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263640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Source: UI_BASIS_WITH_SCREENSHOTS.md § 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9224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25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EggGrade OMS · Production Handover · 2026-05-26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65A82"/>
                </a:solidFill>
                <a:latin typeface="Calibri"/>
              </a:rPr>
              <a:t>UI Basis · Item Edit — BOM / สูตรผลิต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6017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Status · Output · Components · Test Calculation · Advanced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6858000" cy="4297680"/>
          </a:xfrm>
          <a:prstGeom prst="rect">
            <a:avLst/>
          </a:prstGeom>
          <a:solidFill>
            <a:srgbClr val="F5F5F5"/>
          </a:solidFill>
          <a:ln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6858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065A82"/>
                </a:solidFill>
                <a:latin typeface="Calibri"/>
              </a:rPr>
              <a:t>[SCREENSHOT NEEDED · UI-10-item-edit-bom.png + UI-10b-readiness-fail.png]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6492240" cy="3566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┌─ 🧪 BOM / สูตรผลิต ────────────────────────────────────┐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Status: BOM enabled [✓] (disabled until readiness)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Output: 1 unit = 1 ถาด                         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                                              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Components per output unit                    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┌────────────────────────────────────────────────┐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│ Type   │ Item     │ Qty  │ Unit │ Source       │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│ 🥚 Egg │ ไข่ M    │ 30   │ ฟอง  │ egg_profile  │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│ 🧺 Bskt│ B1MK0001 │ 0.16 │ ใบ   │ basket_*     │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│ 📦 Pack│ C19999.. │ 1    │ ใบ   │ bom_setup    │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└────────────────────────────────────────────────┘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                                              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│  Test calc: [100] → result table (not saved)          │</a:t>
            </a:r>
          </a:p>
          <a:p>
            <a:pPr algn="l"/>
            <a:r>
              <a:rPr sz="1100" b="0" i="0">
                <a:solidFill>
                  <a:srgbClr val="6B7280"/>
                </a:solidFill>
                <a:latin typeface="Consolas"/>
              </a:rPr>
              <a:t>└───────────────────────────────────────────────────────┘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554480"/>
            <a:ext cx="4480560" cy="4572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600200"/>
            <a:ext cx="44805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Talking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011680"/>
            <a:ext cx="4480560" cy="3840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2148840"/>
            <a:ext cx="420624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BOM enable is binary · gated by _bomItemReadiness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Egg + Basket + Packaging Profile lines are LOCKED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BOM Setup lines are EDITABLE (Task 9 packaging editor)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Test calc result is not saved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5A82"/>
                </a:solidFill>
                <a:latin typeface="Calibri"/>
              </a:rPr>
              <a:t>• </a:t>
            </a:r>
            <a:r>
              <a:rPr sz="1200">
                <a:solidFill>
                  <a:srgbClr val="1F2937"/>
                </a:solidFill>
                <a:latin typeface="Calibri"/>
              </a:rPr>
              <a:t>Related test: Flow 6, 7, 8,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263640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Source: UI_BASIS_WITH_SCREENSHOTS.md § 10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9224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26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EggGrade OMS · Production Handover · 2026-05-26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65A82"/>
                </a:solidFill>
                <a:latin typeface="Calibri"/>
              </a:rPr>
              <a:t>Key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6017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8 files cover the full handover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60175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640080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1118585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1">
                <a:solidFill>
                  <a:srgbClr val="21295C"/>
                </a:solidFill>
                <a:latin typeface="Calibri"/>
              </a:rPr>
              <a:t>Index → Logic → UI → Tests → Test Data → Roadmap → Outline → Deck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41148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148840"/>
            <a:ext cx="4114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67128"/>
            <a:ext cx="5943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onsolas"/>
              </a:rPr>
              <a:t>PRODUCTION_HANDOVER_EGGGRADE_OMS.md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76272"/>
            <a:ext cx="5029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Master index · audience · category boundary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60320"/>
            <a:ext cx="41148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606040"/>
            <a:ext cx="4114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624328"/>
            <a:ext cx="5943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onsolas"/>
              </a:rPr>
              <a:t>LOGIC_BASE_SPEC.md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633472"/>
            <a:ext cx="5029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Business logic · 9 sections · BE/FE/DB/QA reference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17520"/>
            <a:ext cx="41148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063240"/>
            <a:ext cx="4114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081528"/>
            <a:ext cx="5943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onsolas"/>
              </a:rPr>
              <a:t>UI_BASIS_WITH_SCREENSHOTS.md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090672"/>
            <a:ext cx="5029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13 UI sections · screenshot checklist · FE/QA/PO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74720"/>
            <a:ext cx="41148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520440"/>
            <a:ext cx="4114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538728"/>
            <a:ext cx="5943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onsolas"/>
              </a:rPr>
              <a:t>TESTING_SCENARIOS_AND_USER_FLOWS.md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547872"/>
            <a:ext cx="5029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10 flows + cross-cutting · QA primary doc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931920"/>
            <a:ext cx="41148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977640"/>
            <a:ext cx="4114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995928"/>
            <a:ext cx="5943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onsolas"/>
              </a:rPr>
              <a:t>DEV_DATA_TEST_PACKAGE_README.md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005072"/>
            <a:ext cx="5029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Test data file plan per tab · BE/DB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389120"/>
            <a:ext cx="41148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434840"/>
            <a:ext cx="4114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453128"/>
            <a:ext cx="5943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onsolas"/>
              </a:rPr>
              <a:t>PRODUCTION_ROADMAP.md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462272"/>
            <a:ext cx="5029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6-phase migration · risk register · CTO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846320"/>
            <a:ext cx="41148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892040"/>
            <a:ext cx="4114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4910328"/>
            <a:ext cx="5943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onsolas"/>
              </a:rPr>
              <a:t>DEV_HANDOVER_PRESENTATION_OUTLINE.md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919472"/>
            <a:ext cx="5029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31-slide outline (this deck's source)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303520"/>
            <a:ext cx="41148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5349240"/>
            <a:ext cx="4114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5367528"/>
            <a:ext cx="5943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onsolas"/>
              </a:rPr>
              <a:t>EggGrade_OMS_Production_Handover.pptx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5376672"/>
            <a:ext cx="5029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Actual deck · built from outline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263640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Source: PRODUCTION_HANDOVER_EGGGRADE_OMS.md § 2, § 10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9224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27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EggGrade OMS · Production Handover · 2026-05-26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65A82"/>
                </a:solidFill>
                <a:latin typeface="Calibri"/>
              </a:rPr>
              <a:t>Testing Scenario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6017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10 flows + cross-cutting · acceptance tests P/N/E per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60175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640080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1118585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1">
                <a:solidFill>
                  <a:srgbClr val="21295C"/>
                </a:solidFill>
                <a:latin typeface="Calibri"/>
              </a:rPr>
              <a:t>Production must pass all Flow 1–10 + X.* tests to claim behavior parity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94560"/>
            <a:ext cx="1097280" cy="7315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37744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Flow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08760" y="2194560"/>
            <a:ext cx="4572000" cy="7315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286000"/>
            <a:ext cx="4389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Order with PO → Planning → BOM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606040"/>
            <a:ext cx="4389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Happy path + 4 N + 2 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017520"/>
            <a:ext cx="1097280" cy="7315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20040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Flow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3017520"/>
            <a:ext cx="4572000" cy="7315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3108960"/>
            <a:ext cx="4389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Order without 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429000"/>
            <a:ext cx="4389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Manual order; future PO reconcile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40480"/>
            <a:ext cx="1097280" cy="7315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02336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Flow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08760" y="3840480"/>
            <a:ext cx="4572000" cy="7315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0" y="3931920"/>
            <a:ext cx="4389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Quantity lifecycle PO → BOM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251960"/>
            <a:ext cx="4389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5 distinct numbers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663440"/>
            <a:ext cx="1097280" cy="7315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84632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Flow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08760" y="4663440"/>
            <a:ext cx="4572000" cy="7315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20" y="4754880"/>
            <a:ext cx="4389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Demand Planning rounds R1–R4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074920"/>
            <a:ext cx="4389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Waiting → Accepted → Confirmed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486400"/>
            <a:ext cx="1097280" cy="7315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66928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Flow 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08760" y="5486400"/>
            <a:ext cx="4572000" cy="7315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45920" y="5577840"/>
            <a:ext cx="4389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Logistics Planning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5897880"/>
            <a:ext cx="4389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Trips · vehicles · ใบน้อย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194560"/>
            <a:ext cx="1097280" cy="7315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237744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Flow 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60920" y="2194560"/>
            <a:ext cx="4572000" cy="7315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0" y="2286000"/>
            <a:ext cx="4389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Confirmed for BOM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0" y="2606040"/>
            <a:ext cx="4389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Egg + Basket + Packaging rollup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3017520"/>
            <a:ext cx="1097280" cy="7315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320040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Flow 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60920" y="3017520"/>
            <a:ext cx="4572000" cy="7315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0" y="3108960"/>
            <a:ext cx="4389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Item Master — egg SKU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0" y="3429000"/>
            <a:ext cx="4389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Single grade setup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3840480"/>
            <a:ext cx="1097280" cy="7315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402336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Flow 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60920" y="3840480"/>
            <a:ext cx="4572000" cy="7315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98080" y="3931920"/>
            <a:ext cx="4389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Item Master — basket SKU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80" y="4251960"/>
            <a:ext cx="4389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PACKAGING basket selection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4663440"/>
            <a:ext cx="1097280" cy="7315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0" y="484632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Flow 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60920" y="4663440"/>
            <a:ext cx="4572000" cy="7315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80" y="4754880"/>
            <a:ext cx="4389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Mixed egg SKU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80" y="5074920"/>
            <a:ext cx="4389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min_primary split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0" y="5486400"/>
            <a:ext cx="1097280" cy="7315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0" y="566928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Flow 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4572000" cy="7315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98080" y="5577840"/>
            <a:ext cx="4389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Needs Review / Error flow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80" y="5897880"/>
            <a:ext cx="4389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8 surfacing scenarios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263640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Source: TESTING_SCENARIOS_AND_USER_FLOWS.md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9224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28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EggGrade OMS · Production Handover · 2026-05-26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65A82"/>
                </a:solidFill>
                <a:latin typeface="Calibri"/>
              </a:rPr>
              <a:t>Migration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6017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6 phases · ~13–14 weeks single-team · dual-run before cutover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60175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640080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1118585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1">
                <a:solidFill>
                  <a:srgbClr val="21295C"/>
                </a:solidFill>
                <a:latin typeface="Calibri"/>
              </a:rPr>
              <a:t>P0 Foundation → P1 Master → P2 Orders → P3 Daily Plan → P4 BOM → P5 Cutover prep → P6 Cutover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77440"/>
            <a:ext cx="54864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496312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96312"/>
            <a:ext cx="1463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Foundation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2450592"/>
            <a:ext cx="1005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251460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2 wk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71800"/>
            <a:ext cx="548640" cy="5029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090672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090672"/>
            <a:ext cx="1463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Master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3044952"/>
            <a:ext cx="150876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80" y="3108960"/>
            <a:ext cx="15087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3 wk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66160"/>
            <a:ext cx="54864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685032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685032"/>
            <a:ext cx="1463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Orders + PO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74920" y="3639312"/>
            <a:ext cx="1005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370332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2 wk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160520"/>
            <a:ext cx="548640" cy="5029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279392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279392"/>
            <a:ext cx="1463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Daily Plan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4233672"/>
            <a:ext cx="100584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429768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2 wk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754880"/>
            <a:ext cx="548640" cy="502920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873752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873752"/>
            <a:ext cx="1463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BOM (closes 16/42/46)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4828032"/>
            <a:ext cx="1508760" cy="365760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0" y="4892040"/>
            <a:ext cx="15087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3 wk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349240"/>
            <a:ext cx="548640" cy="5029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5468112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468112"/>
            <a:ext cx="1463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Cutover prep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95360" y="5422392"/>
            <a:ext cx="100584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41080" y="548640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2 wk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943600"/>
            <a:ext cx="548640" cy="5029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6062472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6062472"/>
            <a:ext cx="1463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Cutover + dual-run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01200" y="6016752"/>
            <a:ext cx="100584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46920" y="608076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2 wk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60320" y="20574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onsolas"/>
              </a:rPr>
              <a:t>0    2    4    6    8   10   12   14    weeks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263640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Source: PRODUCTION_ROADMAP.md § 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9224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29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EggGrade OMS · Production Handover · 2026-05-26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65A82"/>
                </a:solidFill>
                <a:latin typeface="Calibri"/>
              </a:rPr>
              <a:t>Key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6017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Top 5 from PRODUCTION_ROADMAP.md § 6 · plan mitigation per phase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60175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640080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1118585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1">
                <a:solidFill>
                  <a:srgbClr val="21295C"/>
                </a:solidFill>
                <a:latin typeface="Calibri"/>
              </a:rPr>
              <a:t>Cutover data loss · BOM rollup parity · Bangkok TZ correctness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94560"/>
            <a:ext cx="1097280" cy="5486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33172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RR-01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08760" y="2194560"/>
            <a:ext cx="411480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0200" y="2331720"/>
            <a:ext cx="3931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Cutover data loss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2194560"/>
            <a:ext cx="118872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3317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🔴 Blocker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3720" y="2194560"/>
            <a:ext cx="493776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2331720"/>
            <a:ext cx="4754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Dual-run + backup + rollback to UAT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834640"/>
            <a:ext cx="1097280" cy="548640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971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RR-02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08760" y="2834640"/>
            <a:ext cx="411480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0200" y="2971800"/>
            <a:ext cx="3931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UAT ↔ prod drift after cutover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2834640"/>
            <a:ext cx="118872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297180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🟠 High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03720" y="2834640"/>
            <a:ext cx="493776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95160" y="2971800"/>
            <a:ext cx="4754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Daily acceptance tests during dual-run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474720"/>
            <a:ext cx="1097280" cy="548640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61188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RR-03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08760" y="3474720"/>
            <a:ext cx="411480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3611880"/>
            <a:ext cx="3931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BOM rollup parity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0" y="3474720"/>
            <a:ext cx="118872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0" y="361188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🟠 High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03720" y="3474720"/>
            <a:ext cx="493776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95160" y="3611880"/>
            <a:ext cx="4754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Phase P4 acceptance gate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114800"/>
            <a:ext cx="1097280" cy="548640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25196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RR-05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08760" y="4114800"/>
            <a:ext cx="411480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00200" y="4251960"/>
            <a:ext cx="3931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Bangkok TZ correctness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0" y="4114800"/>
            <a:ext cx="118872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0" y="425196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🟠 High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03720" y="4114800"/>
            <a:ext cx="493776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5160" y="4251960"/>
            <a:ext cx="4754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Asia/Bangkok everywhere; UTC midnight unit test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754880"/>
            <a:ext cx="1097280" cy="548640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48920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RR-08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08760" y="4754880"/>
            <a:ext cx="411480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00200" y="4892040"/>
            <a:ext cx="3931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Backup / restore parity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0" y="4754880"/>
            <a:ext cx="118872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0" y="489204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🟠 High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03720" y="4754880"/>
            <a:ext cx="493776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95160" y="4892040"/>
            <a:ext cx="4754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Phase P5 explicit task; do not cut over without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263640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Source: PRODUCTION_ROADMAP.md § 6 · BUG_LOG.md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9224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30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EggGrade OMS · Production Handover · 2026-05-26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65A82"/>
                </a:solidFill>
                <a:latin typeface="Calibri"/>
              </a:rPr>
              <a:t>Behavior contracts production must preserve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6017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Seven do-not-break invariants from DEVELOPMENT_WORKFLOW.md + BOM stabilization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60175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640080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1118585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1">
                <a:solidFill>
                  <a:srgbClr val="21295C"/>
                </a:solidFill>
                <a:latin typeface="Calibri"/>
              </a:rPr>
              <a:t>These are the rules · everything else is implementation detail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94560"/>
            <a:ext cx="45720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67712"/>
            <a:ext cx="457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194560"/>
            <a:ext cx="10972800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286000"/>
            <a:ext cx="106984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Orders status FSM semantics (states + reason codes + isNeedsAttention)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97480"/>
            <a:ext cx="45720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770632"/>
            <a:ext cx="457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2697480"/>
            <a:ext cx="10972800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788920"/>
            <a:ext cx="106984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Placeholder lifecycle (create on unknown SKU · resolve before confirm · cleanup on ticket delete)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00400"/>
            <a:ext cx="45720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273552"/>
            <a:ext cx="457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3200400"/>
            <a:ext cx="10972800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291840"/>
            <a:ext cx="106984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Master Data validators (block on required · warn on soft)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03320"/>
            <a:ext cx="45720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776472"/>
            <a:ext cx="457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3703320"/>
            <a:ext cx="10972800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794760"/>
            <a:ext cx="106984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PO parsers — Makro / BigC / Thaifood semantics (CJ deferred · UAT-012)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206240"/>
            <a:ext cx="45720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279392"/>
            <a:ext cx="457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4206240"/>
            <a:ext cx="10972800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97680"/>
            <a:ext cx="106984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Unit-conversion rule (label vs integer · integer wins · use normalizeItemUnits / getSellingUnitBaseFactor)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709160"/>
            <a:ext cx="45720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782312"/>
            <a:ext cx="457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4709160"/>
            <a:ext cx="10972800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800600"/>
            <a:ext cx="106984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One component-line BOM model (egg + basket + packaging profile + BOM setup)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212080"/>
            <a:ext cx="45720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285232"/>
            <a:ext cx="457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" y="5212080"/>
            <a:ext cx="10972800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303520"/>
            <a:ext cx="106984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Basket active-state model (Task 8C-2E) · has_basket_unit ON/OFF preserves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263640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Source: PRODUCTION_HANDOVER § 7 · LOGIC_BASE_SPEC end-to-end · DEVELOPMENT_WORKFLOW.md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9224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31 /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EggGrade OMS · Production Handover · 2026-05-26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065A82"/>
                </a:solidFill>
                <a:latin typeface="Calibri"/>
              </a:rPr>
              <a:t>Next 30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6017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Five actions before any production code lands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60175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640080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1118585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1">
                <a:solidFill>
                  <a:srgbClr val="21295C"/>
                </a:solidFill>
                <a:latin typeface="Calibri"/>
              </a:rPr>
              <a:t>No app/index.html edits required for any of these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94560"/>
            <a:ext cx="640080" cy="5486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3317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194560"/>
            <a:ext cx="685800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331720"/>
            <a:ext cx="6675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Decide on oms-production/ re-baseline vs fresh start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194560"/>
            <a:ext cx="384048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2359152"/>
            <a:ext cx="37033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Document as DECISION-01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34640"/>
            <a:ext cx="640080" cy="5486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97180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2834640"/>
            <a:ext cx="685800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2971800"/>
            <a:ext cx="6675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Re-run UAT QA gate against current MD5 193180d9…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2834640"/>
            <a:ext cx="384048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2999232"/>
            <a:ext cx="37033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Fresh evidence base, not 1-day stale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74720"/>
            <a:ext cx="640080" cy="5486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61188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3474720"/>
            <a:ext cx="685800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3611880"/>
            <a:ext cx="6675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Stand up Phase P0 in a parallel repo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3474720"/>
            <a:ext cx="384048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79" y="3639312"/>
            <a:ext cx="37033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Postgres + NestJS/Fastify + React + CI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114800"/>
            <a:ext cx="640080" cy="5486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25196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280" y="4114800"/>
            <a:ext cx="685800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4440" y="4251960"/>
            <a:ext cx="6675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Capture screenshot pack per UI_BASIS § 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4114800"/>
            <a:ext cx="384048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79" y="4279392"/>
            <a:ext cx="37033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~15 minutes in a fresh browser session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754880"/>
            <a:ext cx="640080" cy="5486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89204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7280" y="4754880"/>
            <a:ext cx="685800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4440" y="4892040"/>
            <a:ext cx="6675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Generate dev test data CSVs per DEV_DATA_README § 6–7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4754880"/>
            <a:ext cx="384048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83879" y="4919472"/>
            <a:ext cx="37033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Two small Python scripts + hand-author test cases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486400"/>
            <a:ext cx="11460175" cy="7772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5605272"/>
            <a:ext cx="1146017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Read order — start with PRODUCTION_HANDOVER_EGGGRADE_OMS.md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5897880"/>
            <a:ext cx="1146017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1">
                <a:solidFill>
                  <a:srgbClr val="F5F5F5"/>
                </a:solidFill>
                <a:latin typeface="Calibri"/>
              </a:rPr>
              <a:t>Then by role per § 1 · CTO · BE · FE · DB · QA · PO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263640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Source: PRODUCTION_ROADMAP.md §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